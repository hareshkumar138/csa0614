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7" r:id="rId4"/>
    <p:sldId id="258" r:id="rId5"/>
    <p:sldId id="278" r:id="rId6"/>
    <p:sldId id="279" r:id="rId7"/>
    <p:sldId id="280" r:id="rId8"/>
    <p:sldId id="281" r:id="rId9"/>
    <p:sldId id="282" r:id="rId10"/>
    <p:sldId id="28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30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4565" y="1854585"/>
            <a:ext cx="10123543" cy="1470025"/>
          </a:xfrm>
        </p:spPr>
        <p:txBody>
          <a:bodyPr>
            <a:no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 of Binary Search and Linear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9824" y="5072048"/>
            <a:ext cx="9013371" cy="1225236"/>
          </a:xfrm>
        </p:spPr>
        <p:txBody>
          <a:bodyPr>
            <a:noAutofit/>
          </a:bodyPr>
          <a:lstStyle/>
          <a:p>
            <a:r>
              <a:rPr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endParaRPr 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HARESH KUMAR N L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63E993-DEE3-4481-B822-EA4B1C996A8E}"/>
              </a:ext>
            </a:extLst>
          </p:cNvPr>
          <p:cNvSpPr txBox="1"/>
          <p:nvPr/>
        </p:nvSpPr>
        <p:spPr>
          <a:xfrm>
            <a:off x="10509" y="3942960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CSA0614 –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A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74754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79078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3F5620E0-EBA5-456E-851F-19C81EF4A0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0060" y="2803100"/>
            <a:ext cx="9911751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searching algorithms have different execution times depending on the input size.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Time Complexity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Time Complexity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O(log n)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sizes: (10, 100, 1000, 10000, 100000, 1000000)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how algorithm complexity affects execution time as input size increases.</a:t>
            </a:r>
            <a:endParaRPr lang="en-AU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46BA0-17E2-92E2-830C-9563FBF91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32B3E-CAD0-2436-F7F0-BC474264C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OVERVIEW</a:t>
            </a:r>
            <a:endParaRPr lang="en-A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54B3DE-2265-ED55-AC51-231A8FDF178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3C2B24-DEF2-6E42-FF8B-3CFAED0172A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BA55BE2D-F705-0117-7886-03A78E096E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4613944"/>
              </p:ext>
            </p:extLst>
          </p:nvPr>
        </p:nvGraphicFramePr>
        <p:xfrm>
          <a:off x="1155940" y="2320506"/>
          <a:ext cx="9358290" cy="2629332"/>
        </p:xfrm>
        <a:graphic>
          <a:graphicData uri="http://schemas.openxmlformats.org/drawingml/2006/table">
            <a:tbl>
              <a:tblPr/>
              <a:tblGrid>
                <a:gridCol w="3119430">
                  <a:extLst>
                    <a:ext uri="{9D8B030D-6E8A-4147-A177-3AD203B41FA5}">
                      <a16:colId xmlns:a16="http://schemas.microsoft.com/office/drawing/2014/main" val="348747740"/>
                    </a:ext>
                  </a:extLst>
                </a:gridCol>
                <a:gridCol w="3119430">
                  <a:extLst>
                    <a:ext uri="{9D8B030D-6E8A-4147-A177-3AD203B41FA5}">
                      <a16:colId xmlns:a16="http://schemas.microsoft.com/office/drawing/2014/main" val="270072061"/>
                    </a:ext>
                  </a:extLst>
                </a:gridCol>
                <a:gridCol w="3119430">
                  <a:extLst>
                    <a:ext uri="{9D8B030D-6E8A-4147-A177-3AD203B41FA5}">
                      <a16:colId xmlns:a16="http://schemas.microsoft.com/office/drawing/2014/main" val="2338971215"/>
                    </a:ext>
                  </a:extLst>
                </a:gridCol>
              </a:tblGrid>
              <a:tr h="657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marL="20003" marR="20003" marT="10001" marB="10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Search</a:t>
                      </a:r>
                    </a:p>
                  </a:txBody>
                  <a:tcPr marL="20003" marR="20003" marT="10001" marB="10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Search</a:t>
                      </a:r>
                    </a:p>
                  </a:txBody>
                  <a:tcPr marL="20003" marR="20003" marT="10001" marB="10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043507"/>
                  </a:ext>
                </a:extLst>
              </a:tr>
              <a:tr h="657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Requirement</a:t>
                      </a:r>
                    </a:p>
                  </a:txBody>
                  <a:tcPr marL="20003" marR="20003" marT="10001" marB="10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Unsorted</a:t>
                      </a:r>
                    </a:p>
                  </a:txBody>
                  <a:tcPr marL="20003" marR="20003" marT="10001" marB="10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Sorted</a:t>
                      </a:r>
                    </a:p>
                  </a:txBody>
                  <a:tcPr marL="20003" marR="20003" marT="10001" marB="10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104671"/>
                  </a:ext>
                </a:extLst>
              </a:tr>
              <a:tr h="657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marL="20003" marR="20003" marT="10001" marB="10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Sequential</a:t>
                      </a:r>
                    </a:p>
                  </a:txBody>
                  <a:tcPr marL="20003" marR="20003" marT="10001" marB="10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 &amp; Conquer</a:t>
                      </a:r>
                    </a:p>
                  </a:txBody>
                  <a:tcPr marL="20003" marR="20003" marT="10001" marB="10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6376892"/>
                  </a:ext>
                </a:extLst>
              </a:tr>
              <a:tr h="6573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Worst Case</a:t>
                      </a:r>
                    </a:p>
                  </a:txBody>
                  <a:tcPr marL="20003" marR="20003" marT="10001" marB="10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O(n)</a:t>
                      </a:r>
                    </a:p>
                  </a:txBody>
                  <a:tcPr marL="20003" marR="20003" marT="10001" marB="10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O(log n)</a:t>
                      </a:r>
                    </a:p>
                  </a:txBody>
                  <a:tcPr marL="20003" marR="20003" marT="10001" marB="100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009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932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/ PSEUDOCODE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323DC6E-EC25-52B0-A97D-4C16598B87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8451315"/>
              </p:ext>
            </p:extLst>
          </p:nvPr>
        </p:nvGraphicFramePr>
        <p:xfrm>
          <a:off x="1872333" y="1319960"/>
          <a:ext cx="8447334" cy="54517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23667">
                  <a:extLst>
                    <a:ext uri="{9D8B030D-6E8A-4147-A177-3AD203B41FA5}">
                      <a16:colId xmlns:a16="http://schemas.microsoft.com/office/drawing/2014/main" val="4154875272"/>
                    </a:ext>
                  </a:extLst>
                </a:gridCol>
                <a:gridCol w="4223667">
                  <a:extLst>
                    <a:ext uri="{9D8B030D-6E8A-4147-A177-3AD203B41FA5}">
                      <a16:colId xmlns:a16="http://schemas.microsoft.com/office/drawing/2014/main" val="1058828913"/>
                    </a:ext>
                  </a:extLst>
                </a:gridCol>
              </a:tblGrid>
              <a:tr h="422576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496792"/>
                  </a:ext>
                </a:extLst>
              </a:tr>
              <a:tr h="4207766">
                <a:tc>
                  <a:txBody>
                    <a:bodyPr/>
                    <a:lstStyle/>
                    <a:p>
                      <a:r>
                        <a:rPr lang="en-US" dirty="0" err="1"/>
                        <a:t>LinearSearch</a:t>
                      </a:r>
                      <a:r>
                        <a:rPr lang="en-US" dirty="0"/>
                        <a:t>(A, key)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for each element in A</a:t>
                      </a:r>
                    </a:p>
                    <a:p>
                      <a:r>
                        <a:rPr lang="en-US" dirty="0"/>
                        <a:t>    if element == key</a:t>
                      </a:r>
                    </a:p>
                    <a:p>
                      <a:r>
                        <a:rPr lang="en-US" dirty="0"/>
                        <a:t>        return index</a:t>
                      </a:r>
                    </a:p>
                    <a:p>
                      <a:r>
                        <a:rPr lang="en-US" dirty="0"/>
                        <a:t>return Not Found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BinarySearch</a:t>
                      </a:r>
                      <a:r>
                        <a:rPr lang="en-US" dirty="0"/>
                        <a:t>(A, key)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low = 0</a:t>
                      </a:r>
                    </a:p>
                    <a:p>
                      <a:r>
                        <a:rPr lang="en-US" dirty="0"/>
                        <a:t>high = n - 1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while low &lt;= high</a:t>
                      </a:r>
                    </a:p>
                    <a:p>
                      <a:r>
                        <a:rPr lang="en-US" dirty="0"/>
                        <a:t>    mid = (low + high)/2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    if A[mid] == key</a:t>
                      </a:r>
                    </a:p>
                    <a:p>
                      <a:r>
                        <a:rPr lang="en-US" dirty="0"/>
                        <a:t>        return mid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    else if key &lt; A[mid]</a:t>
                      </a:r>
                    </a:p>
                    <a:p>
                      <a:r>
                        <a:rPr lang="en-US" dirty="0"/>
                        <a:t>        high = mid - 1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    else</a:t>
                      </a:r>
                    </a:p>
                    <a:p>
                      <a:r>
                        <a:rPr lang="en-US" dirty="0"/>
                        <a:t>        low = mid + 1</a:t>
                      </a:r>
                    </a:p>
                    <a:p>
                      <a:endParaRPr lang="en-US" dirty="0"/>
                    </a:p>
                    <a:p>
                      <a:r>
                        <a:rPr lang="en-US" dirty="0"/>
                        <a:t>return Not Found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422700"/>
                  </a:ext>
                </a:extLst>
              </a:tr>
            </a:tbl>
          </a:graphicData>
        </a:graphic>
      </p:graphicFrame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309A8-1DCF-229D-D9CE-2FE50DC35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2A616-2DEC-6353-B679-4226B8657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EXAMPLE (DRY RUN)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1109E4-5F83-749B-5246-5CF28004C69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06906C-EB02-462D-B811-62D13BEE371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5B6162-0839-7D79-0235-6440F43E6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0661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= [5, 12, 18, 25, 39, 46, 58, 72, 90]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Key =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Linear Search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5,12,18,25,39,46 ✓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Comparisons =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Binary Search: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39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/    \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18      58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/  \       /  \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12   25  46   72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                       \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5                        90</a:t>
            </a: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finds the element with significantly fewer comparisons.</a:t>
            </a: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069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D02B2-1FCF-E302-D001-255F713EE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47C60-B031-5142-3B8B-CC393C8A2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ANALYSIS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6F6D38-53F7-8B82-A09C-A1A18E40E5F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1046AC-8033-6834-715D-F8F9379D807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D0CF345E-0822-66AA-E7AB-E7C594B511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3133244"/>
              </p:ext>
            </p:extLst>
          </p:nvPr>
        </p:nvGraphicFramePr>
        <p:xfrm>
          <a:off x="609600" y="2948781"/>
          <a:ext cx="10972800" cy="18288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741825507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49302056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7127654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Linear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Binary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6923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1469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Average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O(log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029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O(log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122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O(1)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166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8906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8B8E2-C9EF-1379-A122-5506C6E22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4575D-3AB9-0A46-441A-73ADA4385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67BFB6-74DA-0E8C-0EE0-224DB54B3DD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9954E0-69CB-E8E9-68A6-83BAD8C83F7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839AFE3-54E3-BF3D-97C7-788ECA70F5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7720052"/>
              </p:ext>
            </p:extLst>
          </p:nvPr>
        </p:nvGraphicFramePr>
        <p:xfrm>
          <a:off x="195283" y="2242869"/>
          <a:ext cx="11801433" cy="3812872"/>
        </p:xfrm>
        <a:graphic>
          <a:graphicData uri="http://schemas.openxmlformats.org/drawingml/2006/table">
            <a:tbl>
              <a:tblPr/>
              <a:tblGrid>
                <a:gridCol w="3933811">
                  <a:extLst>
                    <a:ext uri="{9D8B030D-6E8A-4147-A177-3AD203B41FA5}">
                      <a16:colId xmlns:a16="http://schemas.microsoft.com/office/drawing/2014/main" val="564032772"/>
                    </a:ext>
                  </a:extLst>
                </a:gridCol>
                <a:gridCol w="3933811">
                  <a:extLst>
                    <a:ext uri="{9D8B030D-6E8A-4147-A177-3AD203B41FA5}">
                      <a16:colId xmlns:a16="http://schemas.microsoft.com/office/drawing/2014/main" val="1303606847"/>
                    </a:ext>
                  </a:extLst>
                </a:gridCol>
                <a:gridCol w="3933811">
                  <a:extLst>
                    <a:ext uri="{9D8B030D-6E8A-4147-A177-3AD203B41FA5}">
                      <a16:colId xmlns:a16="http://schemas.microsoft.com/office/drawing/2014/main" val="1040034108"/>
                    </a:ext>
                  </a:extLst>
                </a:gridCol>
              </a:tblGrid>
              <a:tr h="544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Input 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Linear Search (Worst Case)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Binary Search (Worst Case)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412550"/>
                  </a:ext>
                </a:extLst>
              </a:tr>
              <a:tr h="544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 comparisons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 comparisons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436597"/>
                  </a:ext>
                </a:extLst>
              </a:tr>
              <a:tr h="544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100 comparisons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 comparisons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470879"/>
                  </a:ext>
                </a:extLst>
              </a:tr>
              <a:tr h="544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1,000 comparisons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 comparisons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058174"/>
                  </a:ext>
                </a:extLst>
              </a:tr>
              <a:tr h="544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10,000 comparisons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14 comparisons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362401"/>
                  </a:ext>
                </a:extLst>
              </a:tr>
              <a:tr h="544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100,000 comparisons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17 comparisons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420786"/>
                  </a:ext>
                </a:extLst>
              </a:tr>
              <a:tr h="544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1,000,000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1,000,000 comparisons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 comparisons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2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6196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9DD9D-FE32-7CF7-1CDB-24183ECEE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46A2B-C077-9DDD-7DE1-7A956E86C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D4733B-0550-9129-6EEE-BF0BB95B129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6A7996-C0DC-2676-5E9D-CEBC18909EC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634F5B5-358D-E770-54F1-960C3D1B09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0253957"/>
              </p:ext>
            </p:extLst>
          </p:nvPr>
        </p:nvGraphicFramePr>
        <p:xfrm>
          <a:off x="609600" y="2342072"/>
          <a:ext cx="10972800" cy="3108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848430482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838056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Linear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Binary 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054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datasets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Unsorted collections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Linked Lists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search operations</a:t>
                      </a:r>
                    </a:p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indexing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Library management systems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engines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Dictionary applications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Phone contacts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E-commerce product search </a:t>
                      </a:r>
                    </a:p>
                    <a:p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8931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8102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88BDE-E940-EBFA-6520-91E1C6BA7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F881B-70BB-034E-F73A-BD597299B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6FA521-8AB2-D19D-2E2C-68B67EE0459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6C4995-A1E6-C281-5E68-8C93AF71836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F1222F-235C-ED8F-B92B-CF3FBA216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Result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Discussion</a:t>
            </a:r>
          </a:p>
          <a:p>
            <a:r>
              <a:rPr lang="en-IN" dirty="0"/>
              <a:t>Binary Search consistently requires far fewer comparisons. </a:t>
            </a:r>
          </a:p>
          <a:p>
            <a:r>
              <a:rPr lang="en-IN" dirty="0"/>
              <a:t>The divide-and-conquer approach makes it highly efficient. </a:t>
            </a:r>
          </a:p>
          <a:p>
            <a:r>
              <a:rPr lang="en-IN" dirty="0"/>
              <a:t>Linear Search remains useful when data is unsorted or very small. </a:t>
            </a:r>
          </a:p>
          <a:p>
            <a:r>
              <a:rPr lang="en-IN" dirty="0"/>
              <a:t>For sorted datasets, Binary Search provides better scalability and execution performance.</a:t>
            </a:r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CC7DE08-A96B-B85E-BF5F-1181637C6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390501"/>
              </p:ext>
            </p:extLst>
          </p:nvPr>
        </p:nvGraphicFramePr>
        <p:xfrm>
          <a:off x="609599" y="2020578"/>
          <a:ext cx="11122326" cy="1688778"/>
        </p:xfrm>
        <a:graphic>
          <a:graphicData uri="http://schemas.openxmlformats.org/drawingml/2006/table">
            <a:tbl>
              <a:tblPr/>
              <a:tblGrid>
                <a:gridCol w="3707442">
                  <a:extLst>
                    <a:ext uri="{9D8B030D-6E8A-4147-A177-3AD203B41FA5}">
                      <a16:colId xmlns:a16="http://schemas.microsoft.com/office/drawing/2014/main" val="3357719763"/>
                    </a:ext>
                  </a:extLst>
                </a:gridCol>
                <a:gridCol w="3707442">
                  <a:extLst>
                    <a:ext uri="{9D8B030D-6E8A-4147-A177-3AD203B41FA5}">
                      <a16:colId xmlns:a16="http://schemas.microsoft.com/office/drawing/2014/main" val="3247123246"/>
                    </a:ext>
                  </a:extLst>
                </a:gridCol>
                <a:gridCol w="3707442">
                  <a:extLst>
                    <a:ext uri="{9D8B030D-6E8A-4147-A177-3AD203B41FA5}">
                      <a16:colId xmlns:a16="http://schemas.microsoft.com/office/drawing/2014/main" val="2852944957"/>
                    </a:ext>
                  </a:extLst>
                </a:gridCol>
              </a:tblGrid>
              <a:tr h="562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399437"/>
                  </a:ext>
                </a:extLst>
              </a:tr>
              <a:tr h="562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Linear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Slower as input grows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167627"/>
                  </a:ext>
                </a:extLst>
              </a:tr>
              <a:tr h="562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Binary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O(log 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Much faster for large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4139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7396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43EDF-7451-1952-69D4-2B2C55DAA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2EBD2-5DE1-597D-0372-014F3BCED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REFERENCES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0BB0A0-223C-D6DE-9F4D-65B5676EF10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842EDA-90A6-8F50-7BD8-CC2A360D733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2C099D-3E9D-D82F-5A82-AA1E66B06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402458"/>
            <a:ext cx="10972800" cy="3394492"/>
          </a:xfrm>
        </p:spPr>
        <p:txBody>
          <a:bodyPr>
            <a:normAutofit/>
          </a:bodyPr>
          <a:lstStyle/>
          <a:p>
            <a:r>
              <a:rPr lang="en-IN" sz="2800" dirty="0"/>
              <a:t>Linear Search is simple but inefficient for large datasets. </a:t>
            </a:r>
          </a:p>
          <a:p>
            <a:r>
              <a:rPr lang="en-IN" sz="2800" dirty="0"/>
              <a:t>Binary Search significantly reduces the number of comparisons. </a:t>
            </a:r>
          </a:p>
          <a:p>
            <a:r>
              <a:rPr lang="en-IN" sz="2800" dirty="0"/>
              <a:t>The performance table demonstrates that </a:t>
            </a:r>
            <a:r>
              <a:rPr lang="en-IN" sz="2800" b="1" dirty="0"/>
              <a:t>O(log n)</a:t>
            </a:r>
            <a:r>
              <a:rPr lang="en-IN" sz="2800" dirty="0"/>
              <a:t> scales much better than </a:t>
            </a:r>
            <a:r>
              <a:rPr lang="en-IN" sz="2800" b="1" dirty="0"/>
              <a:t>O(n)</a:t>
            </a:r>
            <a:r>
              <a:rPr lang="en-IN" sz="2800" dirty="0"/>
              <a:t>. </a:t>
            </a:r>
          </a:p>
          <a:p>
            <a:r>
              <a:rPr lang="en-IN" sz="2800" dirty="0"/>
              <a:t>Therefore, Binary Search is the preferred algorithm when searching sorted data.</a:t>
            </a:r>
          </a:p>
        </p:txBody>
      </p:sp>
    </p:spTree>
    <p:extLst>
      <p:ext uri="{BB962C8B-B14F-4D97-AF65-F5344CB8AC3E}">
        <p14:creationId xmlns:p14="http://schemas.microsoft.com/office/powerpoint/2010/main" val="499231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528</Words>
  <Application>Microsoft Office PowerPoint</Application>
  <PresentationFormat>Widescreen</PresentationFormat>
  <Paragraphs>142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Comparative Analysis of Binary Search and Linear Search</vt:lpstr>
      <vt:lpstr>PROBLEM STATEMENT</vt:lpstr>
      <vt:lpstr>ALGORITHM OVERVIEW</vt:lpstr>
      <vt:lpstr>ALGORITHM / PSEUDOCODE</vt:lpstr>
      <vt:lpstr>WORKING EXAMPLE (DRY RUN)</vt:lpstr>
      <vt:lpstr>COMPLEXITY ANALYSIS</vt:lpstr>
      <vt:lpstr>COMPARATIVE ANALYSIS</vt:lpstr>
      <vt:lpstr>APPLICATIONS</vt:lpstr>
      <vt:lpstr>RESULTS &amp; DISCUSSION</vt:lpstr>
      <vt:lpstr>CONCLUSION &amp;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subject/>
  <dc:creator>sankar</dc:creator>
  <cp:keywords/>
  <dc:description>generated using python-pptx</dc:description>
  <cp:lastModifiedBy>Haresh kumar</cp:lastModifiedBy>
  <cp:revision>48</cp:revision>
  <dcterms:created xsi:type="dcterms:W3CDTF">2013-01-27T09:14:16Z</dcterms:created>
  <dcterms:modified xsi:type="dcterms:W3CDTF">2026-07-22T09:26:14Z</dcterms:modified>
  <cp:category/>
</cp:coreProperties>
</file>